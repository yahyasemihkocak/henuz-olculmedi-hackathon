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15"/>
    <p:sldId id="260" r:id="rId5"/>
    <p:sldId id="261" r:id="rId18"/>
    <p:sldId id="262" r:id="rId6"/>
    <p:sldId id="263" r:id="rId7"/>
    <p:sldId id="264" r:id="rId16"/>
    <p:sldId id="265" r:id="rId8"/>
    <p:sldId id="266" r:id="rId17"/>
    <p:sldId id="267" r:id="rId19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9E5ED-F5FE-438F-AD3E-06C2B881E5AB}" v="2" dt="2026-08-30T10:42:48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976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256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733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968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936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07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388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731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956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968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9940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9232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7390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791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4270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0122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874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87B2D-49BC-450D-8BB8-D0FD7B80D7DD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81894-3836-4B39-949A-DF33FB8E20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5339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70">
            <a:extLst>
              <a:ext uri="{FF2B5EF4-FFF2-40B4-BE49-F238E27FC236}">
                <a16:creationId xmlns:a16="http://schemas.microsoft.com/office/drawing/2014/main" id="{1351B104-9B78-4A2B-B970-FA8ABE1C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2" name="Rectangle 71">
              <a:extLst>
                <a:ext uri="{FF2B5EF4-FFF2-40B4-BE49-F238E27FC236}">
                  <a16:creationId xmlns:a16="http://schemas.microsoft.com/office/drawing/2014/main" id="{3A130E84-D02F-40FB-9BEB-52023927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2">
              <a:extLst>
                <a:ext uri="{FF2B5EF4-FFF2-40B4-BE49-F238E27FC236}">
                  <a16:creationId xmlns:a16="http://schemas.microsoft.com/office/drawing/2014/main" id="{5E142BFD-7D75-4518-BBDF-27C00AB4B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73EEA317-93E9-4C84-DCD2-2AB42913F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112" y="1122363"/>
            <a:ext cx="4052887" cy="2387600"/>
          </a:xfrm>
        </p:spPr>
        <p:txBody>
          <a:bodyPr>
            <a:normAutofit/>
          </a:bodyPr>
          <a:lstStyle/>
          <a:p>
            <a:r>
              <a:rPr lang="tr-TR"/>
              <a:t>Henüz Ölçülmedi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73B676C-7657-3947-EA22-1BE2914D9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5702" y="3602038"/>
            <a:ext cx="4082297" cy="1655762"/>
          </a:xfrm>
        </p:spPr>
        <p:txBody>
          <a:bodyPr>
            <a:normAutofit/>
          </a:bodyPr>
          <a:lstStyle/>
          <a:p>
            <a:r>
              <a:rPr lang="tr-TR"/>
              <a:t>İsmail Orhan, Onur Kaya, Fatih Eren Sözen, Yahya Semih Koçak, Ahmet Rauf Oktay</a:t>
            </a:r>
          </a:p>
        </p:txBody>
      </p:sp>
      <p:pic>
        <p:nvPicPr>
          <p:cNvPr id="5" name="Resim 4" descr="Annealing &amp; Gate-Model Quantum Computing Systems | D-Wave">
            <a:extLst>
              <a:ext uri="{FF2B5EF4-FFF2-40B4-BE49-F238E27FC236}">
                <a16:creationId xmlns:a16="http://schemas.microsoft.com/office/drawing/2014/main" id="{4FDAA2F9-2975-7B47-DB8D-729E04700E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5" r="1" b="1842"/>
          <a:stretch>
            <a:fillRect/>
          </a:stretch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69" name="Group 74">
            <a:extLst>
              <a:ext uri="{FF2B5EF4-FFF2-40B4-BE49-F238E27FC236}">
                <a16:creationId xmlns:a16="http://schemas.microsoft.com/office/drawing/2014/main" id="{D4116A08-770E-4DC3-AAB6-E3E8E6CE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76" name="Rectangle 5">
              <a:extLst>
                <a:ext uri="{FF2B5EF4-FFF2-40B4-BE49-F238E27FC236}">
                  <a16:creationId xmlns:a16="http://schemas.microsoft.com/office/drawing/2014/main" id="{6ADECFB2-F615-49A9-A242-A3D04CA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8E1F3AC6-5FF1-401B-91E4-180D1D356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72BC7A9D-387B-4877-B8E6-E8ABA6B26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Rectangle 8">
              <a:extLst>
                <a:ext uri="{FF2B5EF4-FFF2-40B4-BE49-F238E27FC236}">
                  <a16:creationId xmlns:a16="http://schemas.microsoft.com/office/drawing/2014/main" id="{9114560A-27D6-469D-992E-33A55B40B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CBF136EF-7DC2-47D2-974C-70044B5E9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6B03084D-F566-41C4-BE37-870FB5A0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049DC21B-8236-4901-9ADD-E3167ABDE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304F4FEB-8B5B-45BA-988C-5FBF41059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E88E24C8-3D76-4C2F-84D1-BC3C2AACA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91C91468-4F8A-42F1-9505-02D92417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C22581B1-C426-4189-85D6-C499D698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29DFD4C4-0517-4A6B-B423-E55582618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7ACD84D3-D09D-4C94-99D5-51713A1D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18">
              <a:extLst>
                <a:ext uri="{FF2B5EF4-FFF2-40B4-BE49-F238E27FC236}">
                  <a16:creationId xmlns:a16="http://schemas.microsoft.com/office/drawing/2014/main" id="{37C2AEAB-1CC9-4A9A-8303-E1E0C1216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20ABD348-58FE-4371-AE12-C66FF8CA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0">
              <a:extLst>
                <a:ext uri="{FF2B5EF4-FFF2-40B4-BE49-F238E27FC236}">
                  <a16:creationId xmlns:a16="http://schemas.microsoft.com/office/drawing/2014/main" id="{408E0FAA-F0C5-4CB1-95FE-D3D96830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F83C789F-2881-4822-A724-56772095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22">
              <a:extLst>
                <a:ext uri="{FF2B5EF4-FFF2-40B4-BE49-F238E27FC236}">
                  <a16:creationId xmlns:a16="http://schemas.microsoft.com/office/drawing/2014/main" id="{6B039120-5C84-4A03-9ADD-32EA6E5D4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23">
              <a:extLst>
                <a:ext uri="{FF2B5EF4-FFF2-40B4-BE49-F238E27FC236}">
                  <a16:creationId xmlns:a16="http://schemas.microsoft.com/office/drawing/2014/main" id="{440E956F-26EB-40C6-B500-1A4BB4ABF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D2449A75-05DC-4791-90F1-335CC6732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2A0F57CD-8F34-4F1D-BFF3-129352250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26">
              <a:extLst>
                <a:ext uri="{FF2B5EF4-FFF2-40B4-BE49-F238E27FC236}">
                  <a16:creationId xmlns:a16="http://schemas.microsoft.com/office/drawing/2014/main" id="{DB0DDCCE-FA18-4790-8F10-67FC6617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27">
              <a:extLst>
                <a:ext uri="{FF2B5EF4-FFF2-40B4-BE49-F238E27FC236}">
                  <a16:creationId xmlns:a16="http://schemas.microsoft.com/office/drawing/2014/main" id="{750A8178-D049-42D4-BA77-A262FE55F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28">
              <a:extLst>
                <a:ext uri="{FF2B5EF4-FFF2-40B4-BE49-F238E27FC236}">
                  <a16:creationId xmlns:a16="http://schemas.microsoft.com/office/drawing/2014/main" id="{B33B9383-8846-404B-85BE-E43F0773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29">
              <a:extLst>
                <a:ext uri="{FF2B5EF4-FFF2-40B4-BE49-F238E27FC236}">
                  <a16:creationId xmlns:a16="http://schemas.microsoft.com/office/drawing/2014/main" id="{79468103-A660-495B-BFDF-8E7D98A0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0">
              <a:extLst>
                <a:ext uri="{FF2B5EF4-FFF2-40B4-BE49-F238E27FC236}">
                  <a16:creationId xmlns:a16="http://schemas.microsoft.com/office/drawing/2014/main" id="{06F4CC44-94E1-47AF-893C-19C4A4AB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31">
              <a:extLst>
                <a:ext uri="{FF2B5EF4-FFF2-40B4-BE49-F238E27FC236}">
                  <a16:creationId xmlns:a16="http://schemas.microsoft.com/office/drawing/2014/main" id="{E87F601E-2166-4FAE-AF96-2A1B17E4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32">
              <a:extLst>
                <a:ext uri="{FF2B5EF4-FFF2-40B4-BE49-F238E27FC236}">
                  <a16:creationId xmlns:a16="http://schemas.microsoft.com/office/drawing/2014/main" id="{DCDE2745-7AA5-416B-AC78-93C6EAE5D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Rectangle 33">
              <a:extLst>
                <a:ext uri="{FF2B5EF4-FFF2-40B4-BE49-F238E27FC236}">
                  <a16:creationId xmlns:a16="http://schemas.microsoft.com/office/drawing/2014/main" id="{7D5F7E44-496F-4025-AFD8-7EEC67AC1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5" name="Freeform 34">
              <a:extLst>
                <a:ext uri="{FF2B5EF4-FFF2-40B4-BE49-F238E27FC236}">
                  <a16:creationId xmlns:a16="http://schemas.microsoft.com/office/drawing/2014/main" id="{FA8ED221-FD77-4CD0-A9B9-3F97E40D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35">
              <a:extLst>
                <a:ext uri="{FF2B5EF4-FFF2-40B4-BE49-F238E27FC236}">
                  <a16:creationId xmlns:a16="http://schemas.microsoft.com/office/drawing/2014/main" id="{94922F75-95BC-435D-B4BB-BCE65BAC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36">
              <a:extLst>
                <a:ext uri="{FF2B5EF4-FFF2-40B4-BE49-F238E27FC236}">
                  <a16:creationId xmlns:a16="http://schemas.microsoft.com/office/drawing/2014/main" id="{CFB94884-EF28-419D-9147-20B2C9B1A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Freeform 37">
              <a:extLst>
                <a:ext uri="{FF2B5EF4-FFF2-40B4-BE49-F238E27FC236}">
                  <a16:creationId xmlns:a16="http://schemas.microsoft.com/office/drawing/2014/main" id="{94C72871-F5AC-46D1-97EF-94E4070A7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38">
              <a:extLst>
                <a:ext uri="{FF2B5EF4-FFF2-40B4-BE49-F238E27FC236}">
                  <a16:creationId xmlns:a16="http://schemas.microsoft.com/office/drawing/2014/main" id="{03ED1B15-6247-43B3-BEAE-DB699DE29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39">
              <a:extLst>
                <a:ext uri="{FF2B5EF4-FFF2-40B4-BE49-F238E27FC236}">
                  <a16:creationId xmlns:a16="http://schemas.microsoft.com/office/drawing/2014/main" id="{FA3EA466-B483-4B4A-9FCB-9FFA8E53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0">
              <a:extLst>
                <a:ext uri="{FF2B5EF4-FFF2-40B4-BE49-F238E27FC236}">
                  <a16:creationId xmlns:a16="http://schemas.microsoft.com/office/drawing/2014/main" id="{CCE5E17C-696E-46EB-B70D-586274216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41">
              <a:extLst>
                <a:ext uri="{FF2B5EF4-FFF2-40B4-BE49-F238E27FC236}">
                  <a16:creationId xmlns:a16="http://schemas.microsoft.com/office/drawing/2014/main" id="{AB6022EC-6D09-4098-9A97-5A911C08C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42">
              <a:extLst>
                <a:ext uri="{FF2B5EF4-FFF2-40B4-BE49-F238E27FC236}">
                  <a16:creationId xmlns:a16="http://schemas.microsoft.com/office/drawing/2014/main" id="{7E18073E-1315-4400-ABD9-C34AEAFBF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43">
              <a:extLst>
                <a:ext uri="{FF2B5EF4-FFF2-40B4-BE49-F238E27FC236}">
                  <a16:creationId xmlns:a16="http://schemas.microsoft.com/office/drawing/2014/main" id="{5510509E-411D-4F1B-BDC6-3E56668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44">
              <a:extLst>
                <a:ext uri="{FF2B5EF4-FFF2-40B4-BE49-F238E27FC236}">
                  <a16:creationId xmlns:a16="http://schemas.microsoft.com/office/drawing/2014/main" id="{46F1A7E1-EC01-4288-87AE-C3B6434B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Rectangle 45">
              <a:extLst>
                <a:ext uri="{FF2B5EF4-FFF2-40B4-BE49-F238E27FC236}">
                  <a16:creationId xmlns:a16="http://schemas.microsoft.com/office/drawing/2014/main" id="{F7BBA432-5463-415B-BA54-3AA2B92D2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7" name="Freeform 46">
              <a:extLst>
                <a:ext uri="{FF2B5EF4-FFF2-40B4-BE49-F238E27FC236}">
                  <a16:creationId xmlns:a16="http://schemas.microsoft.com/office/drawing/2014/main" id="{66E19F01-137B-4A95-9313-CE6F77806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47">
              <a:extLst>
                <a:ext uri="{FF2B5EF4-FFF2-40B4-BE49-F238E27FC236}">
                  <a16:creationId xmlns:a16="http://schemas.microsoft.com/office/drawing/2014/main" id="{38C0AACC-51F2-424F-9988-F3B621941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48">
              <a:extLst>
                <a:ext uri="{FF2B5EF4-FFF2-40B4-BE49-F238E27FC236}">
                  <a16:creationId xmlns:a16="http://schemas.microsoft.com/office/drawing/2014/main" id="{7364A775-01A6-4012-88CF-58FDDBE4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49">
              <a:extLst>
                <a:ext uri="{FF2B5EF4-FFF2-40B4-BE49-F238E27FC236}">
                  <a16:creationId xmlns:a16="http://schemas.microsoft.com/office/drawing/2014/main" id="{C8C770C5-535A-4F1B-81CA-FD6F32C09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50">
              <a:extLst>
                <a:ext uri="{FF2B5EF4-FFF2-40B4-BE49-F238E27FC236}">
                  <a16:creationId xmlns:a16="http://schemas.microsoft.com/office/drawing/2014/main" id="{55F9C3EF-BEB8-4836-8DE0-319E544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51">
              <a:extLst>
                <a:ext uri="{FF2B5EF4-FFF2-40B4-BE49-F238E27FC236}">
                  <a16:creationId xmlns:a16="http://schemas.microsoft.com/office/drawing/2014/main" id="{0976D9A1-85FC-406B-8AEA-AE3C056A4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3" name="Freeform 52">
              <a:extLst>
                <a:ext uri="{FF2B5EF4-FFF2-40B4-BE49-F238E27FC236}">
                  <a16:creationId xmlns:a16="http://schemas.microsoft.com/office/drawing/2014/main" id="{68BC6126-2A3A-4F1D-A565-BEF62066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4" name="Freeform 53">
              <a:extLst>
                <a:ext uri="{FF2B5EF4-FFF2-40B4-BE49-F238E27FC236}">
                  <a16:creationId xmlns:a16="http://schemas.microsoft.com/office/drawing/2014/main" id="{D8C7B98D-F83E-485D-B01D-270242E8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5" name="Freeform 54">
              <a:extLst>
                <a:ext uri="{FF2B5EF4-FFF2-40B4-BE49-F238E27FC236}">
                  <a16:creationId xmlns:a16="http://schemas.microsoft.com/office/drawing/2014/main" id="{93D5E722-D236-478A-A13F-8FA4141D9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6" name="Freeform 55">
              <a:extLst>
                <a:ext uri="{FF2B5EF4-FFF2-40B4-BE49-F238E27FC236}">
                  <a16:creationId xmlns:a16="http://schemas.microsoft.com/office/drawing/2014/main" id="{ABE1456F-F283-4BD5-A1B9-EF2423B6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7" name="Freeform 56">
              <a:extLst>
                <a:ext uri="{FF2B5EF4-FFF2-40B4-BE49-F238E27FC236}">
                  <a16:creationId xmlns:a16="http://schemas.microsoft.com/office/drawing/2014/main" id="{E4D1AC66-8164-4BBC-89D5-69FE7A4FC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8" name="Freeform 57">
              <a:extLst>
                <a:ext uri="{FF2B5EF4-FFF2-40B4-BE49-F238E27FC236}">
                  <a16:creationId xmlns:a16="http://schemas.microsoft.com/office/drawing/2014/main" id="{845A8868-488C-447D-979F-7E01B82AC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58">
              <a:extLst>
                <a:ext uri="{FF2B5EF4-FFF2-40B4-BE49-F238E27FC236}">
                  <a16:creationId xmlns:a16="http://schemas.microsoft.com/office/drawing/2014/main" id="{948639B9-9B88-432B-914E-6B70BAEB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70" name="Group 130">
            <a:extLst>
              <a:ext uri="{FF2B5EF4-FFF2-40B4-BE49-F238E27FC236}">
                <a16:creationId xmlns:a16="http://schemas.microsoft.com/office/drawing/2014/main" id="{77EB1C59-16D1-4C5E-9775-50CB40E0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32" name="Freeform 32">
              <a:extLst>
                <a:ext uri="{FF2B5EF4-FFF2-40B4-BE49-F238E27FC236}">
                  <a16:creationId xmlns:a16="http://schemas.microsoft.com/office/drawing/2014/main" id="{08680D14-7FE7-4522-B5EE-76447F83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3">
              <a:extLst>
                <a:ext uri="{FF2B5EF4-FFF2-40B4-BE49-F238E27FC236}">
                  <a16:creationId xmlns:a16="http://schemas.microsoft.com/office/drawing/2014/main" id="{D82C01B5-EC9C-4883-B130-115321E8B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4">
              <a:extLst>
                <a:ext uri="{FF2B5EF4-FFF2-40B4-BE49-F238E27FC236}">
                  <a16:creationId xmlns:a16="http://schemas.microsoft.com/office/drawing/2014/main" id="{DBBE5E83-362F-4EA7-A96D-0BC830A2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35">
              <a:extLst>
                <a:ext uri="{FF2B5EF4-FFF2-40B4-BE49-F238E27FC236}">
                  <a16:creationId xmlns:a16="http://schemas.microsoft.com/office/drawing/2014/main" id="{3971FE03-8B37-43AF-8842-8D4411C3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Freeform 36">
              <a:extLst>
                <a:ext uri="{FF2B5EF4-FFF2-40B4-BE49-F238E27FC236}">
                  <a16:creationId xmlns:a16="http://schemas.microsoft.com/office/drawing/2014/main" id="{8E4E3D41-4CF7-4D15-854A-C4330D3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78B649D7-3C5D-462D-B06A-D065135FE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7A3DDEF1-D28A-48D9-8E48-B2003DF2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9" name="Freeform 39">
              <a:extLst>
                <a:ext uri="{FF2B5EF4-FFF2-40B4-BE49-F238E27FC236}">
                  <a16:creationId xmlns:a16="http://schemas.microsoft.com/office/drawing/2014/main" id="{4A56A02B-D000-45AB-B7DB-E47CA8E77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0" name="Freeform 40">
              <a:extLst>
                <a:ext uri="{FF2B5EF4-FFF2-40B4-BE49-F238E27FC236}">
                  <a16:creationId xmlns:a16="http://schemas.microsoft.com/office/drawing/2014/main" id="{343CE08B-7325-4244-99EA-5E58C982D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1" name="Rectangle 41">
              <a:extLst>
                <a:ext uri="{FF2B5EF4-FFF2-40B4-BE49-F238E27FC236}">
                  <a16:creationId xmlns:a16="http://schemas.microsoft.com/office/drawing/2014/main" id="{7F08E29E-A67F-410A-A810-7000201BF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86954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AA477F-2B0B-6C66-6108-C8FF4693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«   Öncelikle biz kimiz?   »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A753D2-F4A0-CB38-D37A-FBE8E7AF3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tr-TR" sz="1600" dirty="0"/>
              <a:t>Bizler Yıldız Teknik Üniversitesi Bilgisayar Mühendisliği 3. sınıf öğrencileriyiz. Buraya Türkiye'nin çeşitli yerlerinden, Kuantum Teknolojileri Yarışması Yazılım kategorisi final aşaması için geldik.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tr-TR" sz="1600" dirty="0"/>
              <a:t>Ekip olarak işi paralel yürüttük: veri analizi, matematiksel modelleme, kuantum formülasyonu ve doğrulama ayrı ayrı yürütüldü, sonuçlar sürekli karşılaştırıldı.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tr-TR" sz="1600" dirty="0"/>
              <a:t>Bu sunumda üç şeyi anlatacağız: kurduğumuz modeli, denediğimiz ve eleyip vazgeçtiğimiz yöntemleri, ve sonunda dört problemi de çözen hibrit yaklaşımı.</a:t>
            </a:r>
          </a:p>
        </p:txBody>
      </p:sp>
    </p:spTree>
    <p:extLst>
      <p:ext uri="{BB962C8B-B14F-4D97-AF65-F5344CB8AC3E}">
        <p14:creationId xmlns:p14="http://schemas.microsoft.com/office/powerpoint/2010/main" val="235415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43A2AA-CD73-6ECC-859F-454CA435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1 — QUBO Formülasyonu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ECFA1F-F2FE-2544-6D5D-B45C66E4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tr-TR" sz="1400" dirty="0"/>
              <a:t>12 pompalı alt şebekede, D = 1025,2 m³/sa talebini karşılayan ve Q_max = 1148,2 m³/sa sınırını aşmayan en düşük maliyetli pompa seçimi.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Matematiksel modeli önce kâğıt üzerinde kurduk: ikili karar değişkenleri ve iki taraflı kapasite kısıtı.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Kısıtlı problemi kısıtsız QUBO'ya çevirmek için her iki eşitsizliği, ikili tabanda kodlanmış gevşeklik (slack) değişkenleriyle eşitliğe dönüştürdük.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Ceza katsayılarını α = β = 100 seçerek kısıtları sağlamayı maliyet minimizasyonundan öncelikli hale getirdik.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Kareleri elle açıp y² = y özdeşliğiyle sadeleştirdik; 12 pompa + 22 gevşeklik biti ile 34 değişkenli QUBO matrisini elde ettik.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Ekibi böldük: bir grup veri işleme, bir grup QUBO çözümü, bir kişi de brute force referans çözümü üretti.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Brute force ile birebir aynı sonucu almamız, formülasyonun ve ceza katsayısı seçiminin doğruluğunu kanıtladı.</a:t>
            </a:r>
          </a:p>
        </p:txBody>
      </p:sp>
    </p:spTree>
    <p:extLst>
      <p:ext uri="{BB962C8B-B14F-4D97-AF65-F5344CB8AC3E}">
        <p14:creationId xmlns:p14="http://schemas.microsoft.com/office/powerpoint/2010/main" val="180755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8F79E6-3323-812D-6F2B-5D4708D1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2 — Problem ve İlk Denememiz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112FE4-3FEF-D063-208B-45F0A9D0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tr-TR" sz="1400" dirty="0"/>
              <a:t>7.141 düğüm, 45.702 yönlü ark, 221 kaynak, 1.800 pompa, 520 depo ve 600 tüketim bölgesinden oluşan gerçek ölçekli bir şebeke.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Beş karar kümesi aynı anda optimize ediliyor: kaynak tahsisi, pompa aç/kapa, hat akışları, depo stok dengesi ve talep karşılama.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Modelde 2.021 ikili değişken var — güncel kuantum donanımının tam bağlı gömme kapasitesinin çok üzerinde. Tamamını QPU'ya vermek mümkün değil.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İlk yaklaşımımız Benders ayrıştırması oldu: ikili kararlar master problemde (kuantum), akış kararları alt problemde (klasik LP).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Yetersiz kaldı. Sabit ücretli ağ akışı yapısında Benders kesitleri zayıf kalıyor ve master problem hâlâ 2.021 değişkenli.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Ama bu başarısızlık doğru soruyu sordurdu: bu 2.021 kararın kaçı gerçekten belirsiz?</a:t>
            </a:r>
          </a:p>
        </p:txBody>
      </p:sp>
    </p:spTree>
    <p:extLst>
      <p:ext uri="{BB962C8B-B14F-4D97-AF65-F5344CB8AC3E}">
        <p14:creationId xmlns:p14="http://schemas.microsoft.com/office/powerpoint/2010/main" val="296308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slik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00000"/>
          </a:xfrm>
        </p:spPr>
        <p:txBody>
          <a:bodyPr>
            <a:normAutofit/>
          </a:bodyPr>
          <a:lstStyle/>
          <a:p>
            <a:r>
              <a:rPr lang="tr-TR" dirty="0"/>
              <a:t>Problem 2 — Çözüm Çıktısı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623E3AA-FAF3-22FE-9EB3-81A415959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1200" y="2100000"/>
            <a:ext cx="5009600" cy="3400000"/>
          </a:xfrm>
          <a:prstGeom prst="rect">
            <a:avLst/>
          </a:prstGeom>
        </p:spPr>
      </p:pic>
      <p:sp>
        <p:nvSpPr>
          <p:cNvPr id="8" name="Aciklama"/>
          <p:cNvSpPr txBox="1"/>
          <p:nvPr/>
        </p:nvSpPr>
        <p:spPr>
          <a:xfrm>
            <a:off x="1141413" y="5750000"/>
            <a:ext cx="9905998" cy="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tr-TR" sz="1400" dirty="0">
                <a:solidFill>
                  <a:srgbClr val="FFFFFF"/>
                </a:solidFill>
              </a:rPr>
              <a:t>Talebin tamamı karşılandı, minimum debi ihlali sıfır, çözüm 96,4 saniyede üretildi.</a:t>
            </a:r>
          </a:p>
        </p:txBody>
      </p:sp>
    </p:spTree>
    <p:extLst>
      <p:ext uri="{BB962C8B-B14F-4D97-AF65-F5344CB8AC3E}">
        <p14:creationId xmlns:p14="http://schemas.microsoft.com/office/powerpoint/2010/main" val="419761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613C65-8DDE-B062-F70F-AF2F78BC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3 — Kritik Talep Önceliklendirme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F17A2C-3538-4CC7-2287-2BE22AF1F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234" y="2249487"/>
            <a:ext cx="9961177" cy="354171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tr-TR" sz="1400" dirty="0"/>
              <a:t>Problem 2'nin "tüm talepler eşittir" varsayımını kaldırdık. Kritik talep normal talebin yerine geçmez, üzerine eklenir.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Talebi iki ayrı karşılanamayan-talep değişkenine böldük: normal kısıntı ve kritik kısıntı ayrı ayrı izleniyor.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Kritik talebe normal talebin 10 katı ceza uyguladık: 250.000 TL/m³. Böylece model kıtlıkta önce normal bölgelerden kesiyor.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600 bölgenin 96'sında hastane, diyaliz merkezi, yoğun bakım ve kritik sanayi tesisi bulunuyor; toplam kritik talep 4.281,27 m³/sa.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Duyarlılık analizi yaptık: ceza katsayısını 100 kata çıkardığımızda çözüm birebir aynı kaldı, ancak çalışma süresi %38,7 arttı. Bu yüzden 10 katı tercih ettik.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400" dirty="0"/>
              <a:t>Sonuç: hiçbir kritik bölgede kesinti yok, kısıntı ceza tutarı 0 TL. Şebeke mevcut kapasitesiyle her iki talebi de tam karşılayabiliyor.</a:t>
            </a:r>
          </a:p>
        </p:txBody>
      </p:sp>
    </p:spTree>
    <p:extLst>
      <p:ext uri="{BB962C8B-B14F-4D97-AF65-F5344CB8AC3E}">
        <p14:creationId xmlns:p14="http://schemas.microsoft.com/office/powerpoint/2010/main" val="118787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8ACA08-A4B2-5957-6BBB-60DE713F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4 — Arıza Farkındalıklı Tahsis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BB6FFA-1AD3-EFD2-195C-CDAA4A80A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tr-TR" sz="1300" dirty="0"/>
              <a:t>2.382 arıza kaydı sonucunda 45.702 arkın 5.981'i dönem boyunca kullanılamaz durumda; bu hatların kapasitesini sıfırladık.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Şartnamenin any_failure kuralını uyguladık: dönem içinde arızalanan bir ark tüm dönem için kapalı sayılır.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Bu tek değişiklik yöntemimizin bir varsayımını kırdı. LP'nin "kesin açık" dediği bazı pompaların artık kapatılması gerekiyor.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Sebep minimum debi kısıtı: açık bir pompa belli bir debiyi basmak zorunda, ama arıza o debinin gideceği güzergâhı kapatmış olabilir.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Bunu deneyle ölçtük: 151, 173, hatta 1.572 değişken serbestken bile uygun çözüm yok. Ancak 2.021 değişkenin tamamı serbest bırakıldığında ortaya çıkıyor.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Çözümümüz onarım merdiveni: ihlal varsa önce ihlal eden ünitelerin komşuluğunu, yetmezse tüm değişkenleri serbest bırakıp yeniden çözüyoruz.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Sonuç: minimum debi ihlali sıfır. Şebeke 5.981 hat kaybına rağmen talebin %100'ünü karşılayabiliyor.</a:t>
            </a:r>
          </a:p>
        </p:txBody>
      </p:sp>
    </p:spTree>
    <p:extLst>
      <p:ext uri="{BB962C8B-B14F-4D97-AF65-F5344CB8AC3E}">
        <p14:creationId xmlns:p14="http://schemas.microsoft.com/office/powerpoint/2010/main" val="224812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7BCB76-5CDD-BD9E-1CEC-0BB2C21A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r>
              <a:rPr lang="tr-TR" dirty="0"/>
              <a:t>Bizi dinlediğiniz için teşekkür ederiz.</a:t>
            </a:r>
          </a:p>
        </p:txBody>
      </p:sp>
    </p:spTree>
    <p:extLst>
      <p:ext uri="{BB962C8B-B14F-4D97-AF65-F5344CB8AC3E}">
        <p14:creationId xmlns:p14="http://schemas.microsoft.com/office/powerpoint/2010/main" val="2771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slik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00000"/>
          </a:xfrm>
        </p:spPr>
        <p:txBody>
          <a:bodyPr>
            <a:normAutofit/>
          </a:bodyPr>
          <a:lstStyle/>
          <a:p>
            <a:r>
              <a:rPr lang="tr-TR" dirty="0"/>
              <a:t>Problem 1 — Çözüm Çıktısı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623E3AA-FAF3-22FE-9EB3-81A415959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3200000"/>
            <a:ext cx="9144000" cy="801000"/>
          </a:xfrm>
          <a:prstGeom prst="rect">
            <a:avLst/>
          </a:prstGeom>
        </p:spPr>
      </p:pic>
      <p:sp>
        <p:nvSpPr>
          <p:cNvPr id="8" name="Aciklama"/>
          <p:cNvSpPr txBox="1"/>
          <p:nvPr/>
        </p:nvSpPr>
        <p:spPr>
          <a:xfrm>
            <a:off x="1141413" y="5750000"/>
            <a:ext cx="9905998" cy="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tr-TR" sz="1400" dirty="0">
                <a:solidFill>
                  <a:srgbClr val="FFFFFF"/>
                </a:solidFill>
              </a:rPr>
              <a:t>Seçilen 5 pompa, toplam akış 1058,0 m³/sa — brute force ile birebir aynı sonuç.</a:t>
            </a:r>
          </a:p>
        </p:txBody>
      </p:sp>
    </p:spTree>
    <p:extLst>
      <p:ext uri="{BB962C8B-B14F-4D97-AF65-F5344CB8AC3E}">
        <p14:creationId xmlns:p14="http://schemas.microsoft.com/office/powerpoint/2010/main" val="419761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slik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00000"/>
          </a:xfrm>
        </p:spPr>
        <p:txBody>
          <a:bodyPr>
            <a:normAutofit/>
          </a:bodyPr>
          <a:lstStyle/>
          <a:p>
            <a:r>
              <a:rPr lang="tr-TR" dirty="0"/>
              <a:t>Problem 3 — Çözüm Çıktısı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623E3AA-FAF3-22FE-9EB3-81A415959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2400000"/>
            <a:ext cx="6858000" cy="2667750"/>
          </a:xfrm>
          <a:prstGeom prst="rect">
            <a:avLst/>
          </a:prstGeom>
        </p:spPr>
      </p:pic>
      <p:sp>
        <p:nvSpPr>
          <p:cNvPr id="8" name="Aciklama"/>
          <p:cNvSpPr txBox="1"/>
          <p:nvPr/>
        </p:nvSpPr>
        <p:spPr>
          <a:xfrm>
            <a:off x="1141413" y="5750000"/>
            <a:ext cx="9905998" cy="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tr-TR" sz="1400" dirty="0">
                <a:solidFill>
                  <a:srgbClr val="FFFFFF"/>
                </a:solidFill>
              </a:rPr>
              <a:t>Kritik bölgelerin tamamı kesintisiz beslendi; kısıntı ceza tutarı 0 TL.</a:t>
            </a:r>
          </a:p>
        </p:txBody>
      </p:sp>
    </p:spTree>
    <p:extLst>
      <p:ext uri="{BB962C8B-B14F-4D97-AF65-F5344CB8AC3E}">
        <p14:creationId xmlns:p14="http://schemas.microsoft.com/office/powerpoint/2010/main" val="419761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slik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00000"/>
          </a:xfrm>
        </p:spPr>
        <p:txBody>
          <a:bodyPr>
            <a:normAutofit/>
          </a:bodyPr>
          <a:lstStyle/>
          <a:p>
            <a:r>
              <a:rPr lang="tr-TR" dirty="0"/>
              <a:t>Problem 4 — Çözüm Çıktısı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623E3AA-FAF3-22FE-9EB3-81A415959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00" y="2300000"/>
            <a:ext cx="6400800" cy="2849300"/>
          </a:xfrm>
          <a:prstGeom prst="rect">
            <a:avLst/>
          </a:prstGeom>
        </p:spPr>
      </p:pic>
      <p:sp>
        <p:nvSpPr>
          <p:cNvPr id="8" name="Aciklama"/>
          <p:cNvSpPr txBox="1"/>
          <p:nvPr/>
        </p:nvSpPr>
        <p:spPr>
          <a:xfrm>
            <a:off x="1141413" y="5750000"/>
            <a:ext cx="9905998" cy="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tr-TR" sz="1400" dirty="0">
                <a:solidFill>
                  <a:srgbClr val="FFFFFF"/>
                </a:solidFill>
              </a:rPr>
              <a:t>5.981 hat kapalıyken bile %100 karşılama; onarım merdiveni ihlali sıfıra indirdi.</a:t>
            </a:r>
          </a:p>
        </p:txBody>
      </p:sp>
    </p:spTree>
    <p:extLst>
      <p:ext uri="{BB962C8B-B14F-4D97-AF65-F5344CB8AC3E}">
        <p14:creationId xmlns:p14="http://schemas.microsoft.com/office/powerpoint/2010/main" val="419761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43A2AA-CD73-6ECC-859F-454CA435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Yöntemimiz — Dual Yönlendirmeli Hibrit Boru Hattı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ECFA1F-F2FE-2544-6D5D-B45C66E4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Adım 1 — LP gevşetmesi (PuLP + CBC): ikili değişkenleri [0,1] aralığında serbest bırakıp çözüyoruz. 3 saniye sürüyor.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Sonuç çarpıcı: 2.021 ikilinin 1.806'sı doğrudan 0 veya 1 değerini alıyor. Belirsizlik yalnızca 215 değişkende yoğunlaşıyor.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Adım 2 — Dual bilgi: LP'nin gölge fiyatlarından her pompanın marjinal değerini hesaplıyoruz. Δ = sabit açma maliyeti + kapasite duali × kapasite + min-debi duali × min debi.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Adım 3 — Kuantum: 215 değişkenlik çekirdek üzerinde CQM kurup D-Wave tavlayıcısıyla örnekliyoruz. Bu boyut donanımın erişebildiği ölçekte.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Adım 4 — Dal-sınır (CBC): kuantum çıktısı hem sıcak başlangıç hem de serbest küme genişletmesi olarak kullanılıyor.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Kritik tasarım kararı: serbest küme yalnızca büyür, hiç küçülmez. Bu yüzden kuantum adımı uygunluğu asla bozamaz — en kötü ihtimalle önerisi kullanılmaz.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tr-TR" sz="1300" dirty="0"/>
              <a:t>Ayrıştırmanın amacı problemi küçültmek değil, kombinatoryal zorluğun nerede olduğunu bulmaktır.</a:t>
            </a:r>
          </a:p>
        </p:txBody>
      </p:sp>
    </p:spTree>
    <p:extLst>
      <p:ext uri="{BB962C8B-B14F-4D97-AF65-F5344CB8AC3E}">
        <p14:creationId xmlns:p14="http://schemas.microsoft.com/office/powerpoint/2010/main" val="180755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43A2AA-CD73-6ECC-859F-454CA435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Genel Değerlendirme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ECFA1F-F2FE-2544-6D5D-B45C66E4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Problem 2 — 20.294.861 TL | LP alt sınırı 14.306.185 TL (gap %41,86) | 153 pompa | %100 karşılama | 96,4 sn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Problem 3 — 20.374.671 TL | LP alt sınırı 14.306.185 TL (gap %42,42) | 178 pompa | %100 karşılama | 214,4 sn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Problem 4 — 27.268.729 TL | LP alt sınırı 21.035.192 TL (gap %29,63) | 141 pompa | %100 karşılama | 106,2 sn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Üç problemde de minimum debi ihlali sıfır; K1–K16 kısıtlarının tamamı kod içinde ayrıca doğrulanıyor.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LP alt sınırını raporlamamız, çözümümüzün optimale uzaklığına kanıtlanabilir bir üst sınır veriyor. %41'lik fark bir zayıflık değil, sabit ücretli ağ akışı yapısının bilinen bütünlük açığıdır.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Arızanın gerçek bedeli LP alt sınırında okunuyor: 14,3 milyon TL'den 21,0 milyon TL'ye, yaklaşık %47 artış.</a:t>
            </a:r>
          </a:p>
          <a:p>
            <a:pPr marL="285750" indent="-285750" algn="just">
              <a:spcBef>
                <a:spcPts val="600"/>
              </a:spcBef>
            </a:pPr>
            <a:r>
              <a:rPr lang="tr-TR" sz="1300" dirty="0"/>
              <a:t>1.800 pompanın yalnızca 141–178'i açık. Maliyetin %54'ünü oluşturan sabit kalemi bu kadar küçültebilmemiz, hibrit yaklaşımın asıl kazancı.</a:t>
            </a:r>
          </a:p>
        </p:txBody>
      </p:sp>
    </p:spTree>
    <p:extLst>
      <p:ext uri="{BB962C8B-B14F-4D97-AF65-F5344CB8AC3E}">
        <p14:creationId xmlns:p14="http://schemas.microsoft.com/office/powerpoint/2010/main" val="1807552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vre">
  <a:themeElements>
    <a:clrScheme name="Devre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Devre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v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Devre</Template>
  <TotalTime>45</TotalTime>
  <Words>328</Words>
  <Application>Microsoft Office PowerPoint</Application>
  <PresentationFormat>Geniş ekran</PresentationFormat>
  <Paragraphs>13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1" baseType="lpstr">
      <vt:lpstr>Arial</vt:lpstr>
      <vt:lpstr>Tw Cen MT</vt:lpstr>
      <vt:lpstr>Devre</vt:lpstr>
      <vt:lpstr>Henüz Ölçülmedi</vt:lpstr>
      <vt:lpstr>  «   Öncelikle biz kimiz?   »</vt:lpstr>
      <vt:lpstr>    PROBLEM 1</vt:lpstr>
      <vt:lpstr>        Problem 2</vt:lpstr>
      <vt:lpstr>PowerPoint Sunusu</vt:lpstr>
      <vt:lpstr>    Problem 3</vt:lpstr>
      <vt:lpstr>    Problem 4</vt:lpstr>
      <vt:lpstr> Bizi dinlediğiniz için teşekkür ederiz.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Şule Aybüke Sözen</dc:creator>
  <cp:lastModifiedBy>onur kaya</cp:lastModifiedBy>
  <cp:revision>3</cp:revision>
  <dcterms:created xsi:type="dcterms:W3CDTF">2026-08-30T10:33:14Z</dcterms:created>
  <dcterms:modified xsi:type="dcterms:W3CDTF">2026-08-30T11:30:47Z</dcterms:modified>
</cp:coreProperties>
</file>